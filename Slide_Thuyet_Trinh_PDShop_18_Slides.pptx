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65D"/>
        </a:solidFill>
        <a:effectLst/>
      </p:bgPr>
    </p:bg>
    <p:spTree>
      <p:nvGrpSpPr>
        <p:cNvPr id="1" name=""/>
        <p:cNvGrpSpPr/>
        <p:nvPr/>
      </p:nvGrpSpPr>
      <p:grpSpPr/>
      <p:sp>
        <p:nvSpPr>
          <p:cNvPr id="2" name="TextBox 1"/>
          <p:cNvSpPr txBox="1"/>
          <p:nvPr/>
        </p:nvSpPr>
        <p:spPr>
          <a:xfrm>
            <a:off x="914400" y="1371600"/>
            <a:ext cx="10362895" cy="2011680"/>
          </a:xfrm>
          <a:prstGeom prst="rect">
            <a:avLst/>
          </a:prstGeom>
          <a:noFill/>
        </p:spPr>
        <p:txBody>
          <a:bodyPr wrap="square">
            <a:spAutoFit/>
          </a:bodyPr>
          <a:lstStyle/>
          <a:p>
            <a:pPr algn="ctr">
              <a:defRPr sz="3600" b="1">
                <a:solidFill>
                  <a:srgbClr val="FFFFFF"/>
                </a:solidFill>
                <a:latin typeface="Arial"/>
              </a:defRPr>
            </a:pPr>
            <a:r>
              <a:t>HỆ THỐNG THƯƠNG MẠI ĐIỆN TỬ PD-SHOP</a:t>
            </a:r>
          </a:p>
          <a:p>
            <a:pPr algn="ctr">
              <a:spcBef>
                <a:spcPts val="1000"/>
              </a:spcBef>
              <a:defRPr sz="1600">
                <a:solidFill>
                  <a:srgbClr val="2B6C8C"/>
                </a:solidFill>
                <a:latin typeface="Arial"/>
              </a:defRPr>
            </a:pPr>
            <a:r>
              <a:t>PHÁT TRIỂN HỆ THỐNG E-COMMERCE TÍCH HỢP WEBAR, CHATBOT AI VÀ THANH TOÁN TRỰC TUYẾN</a:t>
            </a:r>
          </a:p>
        </p:txBody>
      </p:sp>
      <p:sp>
        <p:nvSpPr>
          <p:cNvPr id="3" name="TextBox 2"/>
          <p:cNvSpPr txBox="1"/>
          <p:nvPr/>
        </p:nvSpPr>
        <p:spPr>
          <a:xfrm>
            <a:off x="1371600" y="3931920"/>
            <a:ext cx="9448495" cy="1828800"/>
          </a:xfrm>
          <a:prstGeom prst="rect">
            <a:avLst/>
          </a:prstGeom>
          <a:noFill/>
        </p:spPr>
        <p:txBody>
          <a:bodyPr wrap="square">
            <a:spAutoFit/>
          </a:bodyPr>
          <a:lstStyle/>
          <a:p>
            <a:pPr algn="ctr">
              <a:spcAft>
                <a:spcPts val="600"/>
              </a:spcAft>
            </a:pPr>
            <a:r>
              <a:rPr sz="1300" b="1">
                <a:solidFill>
                  <a:srgbClr val="FFFFFF"/>
                </a:solidFill>
                <a:latin typeface="Arial"/>
              </a:rPr>
              <a:t>Sinh viên thực hiện: </a:t>
            </a:r>
            <a:r>
              <a:rPr sz="1300">
                <a:solidFill>
                  <a:srgbClr val="F0F4F8"/>
                </a:solidFill>
                <a:latin typeface="Arial"/>
              </a:rPr>
              <a:t>Dương Duy Phúc</a:t>
            </a:r>
          </a:p>
          <a:p>
            <a:pPr algn="ctr">
              <a:spcAft>
                <a:spcPts val="600"/>
              </a:spcAft>
            </a:pPr>
            <a:r>
              <a:rPr sz="1300" b="1">
                <a:solidFill>
                  <a:srgbClr val="FFFFFF"/>
                </a:solidFill>
                <a:latin typeface="Arial"/>
              </a:rPr>
              <a:t>Giảng viên hướng dẫn: </a:t>
            </a:r>
            <a:r>
              <a:rPr sz="1300">
                <a:solidFill>
                  <a:srgbClr val="F0F4F8"/>
                </a:solidFill>
                <a:latin typeface="Arial"/>
              </a:rPr>
              <a:t>Thầy/Cô hướng dẫn đồ án</a:t>
            </a:r>
          </a:p>
          <a:p>
            <a:pPr algn="ctr">
              <a:spcAft>
                <a:spcPts val="600"/>
              </a:spcAft>
            </a:pPr>
            <a:r>
              <a:rPr sz="1300" b="1">
                <a:solidFill>
                  <a:srgbClr val="FFFFFF"/>
                </a:solidFill>
                <a:latin typeface="Arial"/>
              </a:rPr>
              <a:t>Công nghệ chính: </a:t>
            </a:r>
            <a:r>
              <a:rPr sz="1300">
                <a:solidFill>
                  <a:srgbClr val="F0F4F8"/>
                </a:solidFill>
                <a:latin typeface="Arial"/>
              </a:rPr>
              <a:t>Spring Boot • React.js • MySQL • Docker • AWS EC2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 ĐẶT VẤN ĐỀ &amp; BÀI TOÁN THỰC TẾ</a:t>
            </a:r>
          </a:p>
        </p:txBody>
      </p:sp>
      <p:sp>
        <p:nvSpPr>
          <p:cNvPr id="3" name="TextBox 2"/>
          <p:cNvSpPr txBox="1"/>
          <p:nvPr/>
        </p:nvSpPr>
        <p:spPr>
          <a:xfrm>
            <a:off x="640080" y="1371600"/>
            <a:ext cx="5120640" cy="4572000"/>
          </a:xfrm>
          <a:prstGeom prst="rect">
            <a:avLst/>
          </a:prstGeom>
          <a:noFill/>
        </p:spPr>
        <p:txBody>
          <a:bodyPr wrap="square">
            <a:spAutoFit/>
          </a:bodyPr>
          <a:lstStyle/>
          <a:p>
            <a:pPr>
              <a:spcAft>
                <a:spcPts val="1200"/>
              </a:spcAft>
              <a:defRPr b="1" sz="1600">
                <a:solidFill>
                  <a:srgbClr val="2B6C8C"/>
                </a:solidFill>
              </a:defRPr>
            </a:pPr>
            <a:r>
              <a:t>Bài toán thực tế trong kinh doanh trực tuyến:</a:t>
            </a:r>
          </a:p>
          <a:p>
            <a:pPr>
              <a:spcAft>
                <a:spcPts val="800"/>
              </a:spcAft>
            </a:pPr>
            <a:r>
              <a:rPr sz="1300">
                <a:solidFill>
                  <a:srgbClr val="333333"/>
                </a:solidFill>
                <a:latin typeface="Arial"/>
              </a:rPr>
              <a:t>• Sự bùng nổ của thương mại điện tử đòi hỏi các cửa hàng không ngừng tối ưu trải nghiệm khách hàng.</a:t>
            </a:r>
          </a:p>
          <a:p>
            <a:pPr>
              <a:spcAft>
                <a:spcPts val="800"/>
              </a:spcAft>
            </a:pPr>
            <a:r>
              <a:rPr sz="1300">
                <a:solidFill>
                  <a:srgbClr val="333333"/>
                </a:solidFill>
                <a:latin typeface="Arial"/>
              </a:rPr>
              <a:t>• Khách hàng gặp khó khăn khi chọn mua sản phẩm (thiết bị, thời trang) vì chỉ nhìn thấy ảnh 2D tĩnh.</a:t>
            </a:r>
          </a:p>
          <a:p>
            <a:pPr>
              <a:spcAft>
                <a:spcPts val="800"/>
              </a:spcAft>
            </a:pPr>
            <a:r>
              <a:rPr sz="1300">
                <a:solidFill>
                  <a:srgbClr val="333333"/>
                </a:solidFill>
                <a:latin typeface="Arial"/>
              </a:rPr>
              <a:t>• Thiếu sự tương tác trực quan dẫn đến tỷ lệ hủy đơn hoặc hoàn trả sản phẩm cao.</a:t>
            </a:r>
          </a:p>
        </p:txBody>
      </p:sp>
      <p:sp>
        <p:nvSpPr>
          <p:cNvPr id="4" name="TextBox 3"/>
          <p:cNvSpPr txBox="1"/>
          <p:nvPr/>
        </p:nvSpPr>
        <p:spPr>
          <a:xfrm>
            <a:off x="6309360" y="1371600"/>
            <a:ext cx="5120640" cy="4572000"/>
          </a:xfrm>
          <a:prstGeom prst="rect">
            <a:avLst/>
          </a:prstGeom>
          <a:noFill/>
        </p:spPr>
        <p:txBody>
          <a:bodyPr wrap="square">
            <a:spAutoFit/>
          </a:bodyPr>
          <a:lstStyle/>
          <a:p>
            <a:pPr>
              <a:spcAft>
                <a:spcPts val="1200"/>
              </a:spcAft>
              <a:defRPr b="1" sz="1600">
                <a:solidFill>
                  <a:srgbClr val="3E7D60"/>
                </a:solidFill>
              </a:defRPr>
            </a:pPr>
            <a:r>
              <a:t>Hạn chế của E-Commerce truyền thống:</a:t>
            </a:r>
          </a:p>
          <a:p>
            <a:pPr>
              <a:spcAft>
                <a:spcPts val="800"/>
              </a:spcAft>
            </a:pPr>
            <a:r>
              <a:rPr sz="1300">
                <a:solidFill>
                  <a:srgbClr val="333333"/>
                </a:solidFill>
                <a:latin typeface="Arial"/>
              </a:rPr>
              <a:t>• Hình ảnh tĩnh, thiếu tính năng thực tế tăng cường hỗ trợ ướm thử sản phẩm vào không gian thực.</a:t>
            </a:r>
          </a:p>
          <a:p>
            <a:pPr>
              <a:spcAft>
                <a:spcPts val="800"/>
              </a:spcAft>
            </a:pPr>
            <a:r>
              <a:rPr sz="1300">
                <a:solidFill>
                  <a:srgbClr val="333333"/>
                </a:solidFill>
                <a:latin typeface="Arial"/>
              </a:rPr>
              <a:t>• Bộ phận hỗ trợ chăm sóc khách hàng bằng tay quá tải, không thể trực 24/7.</a:t>
            </a:r>
          </a:p>
          <a:p>
            <a:pPr>
              <a:spcAft>
                <a:spcPts val="800"/>
              </a:spcAft>
            </a:pPr>
            <a:r>
              <a:rPr sz="1300">
                <a:solidFill>
                  <a:srgbClr val="333333"/>
                </a:solidFill>
                <a:latin typeface="Arial"/>
              </a:rPr>
              <a:t>• Quy trình thanh toán COD rủi ro cao, thiếu các cổng thanh toán trực tuyến bảo mật quốc gia.</a:t>
            </a:r>
          </a:p>
          <a:p>
            <a:pPr>
              <a:spcAft>
                <a:spcPts val="800"/>
              </a:spcAft>
            </a:pPr>
            <a:r>
              <a:rPr sz="1300">
                <a:solidFill>
                  <a:srgbClr val="333333"/>
                </a:solidFill>
                <a:latin typeface="Arial"/>
              </a:rPr>
              <a:t>• Hạ tầng triển khai thủ công, khó mở rộng khi lượng truy cập tăng đột biến.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2. MỤC TIÊU CỦA ĐỀ TÀI</a:t>
            </a:r>
          </a:p>
        </p:txBody>
      </p:sp>
      <p:sp>
        <p:nvSpPr>
          <p:cNvPr id="3" name="TextBox 2"/>
          <p:cNvSpPr txBox="1"/>
          <p:nvPr/>
        </p:nvSpPr>
        <p:spPr>
          <a:xfrm>
            <a:off x="640080" y="1371600"/>
            <a:ext cx="5120640" cy="4572000"/>
          </a:xfrm>
          <a:prstGeom prst="rect">
            <a:avLst/>
          </a:prstGeom>
          <a:noFill/>
        </p:spPr>
        <p:txBody>
          <a:bodyPr wrap="square">
            <a:spAutoFit/>
          </a:bodyPr>
          <a:lstStyle/>
          <a:p>
            <a:pPr>
              <a:spcAft>
                <a:spcPts val="1200"/>
              </a:spcAft>
              <a:defRPr b="1" sz="1600">
                <a:solidFill>
                  <a:srgbClr val="1B365D"/>
                </a:solidFill>
              </a:defRPr>
            </a:pPr>
            <a:r>
              <a:t>Mục tiêu tổng quát:</a:t>
            </a:r>
          </a:p>
          <a:p>
            <a:pPr>
              <a:spcAft>
                <a:spcPts val="1200"/>
              </a:spcAft>
            </a:pPr>
            <a:r>
              <a:rPr sz="1350">
                <a:solidFill>
                  <a:srgbClr val="333333"/>
                </a:solidFill>
                <a:latin typeface="Arial"/>
              </a:rPr>
              <a:t>• Xây dựng một hệ thống E-Commerce toàn diện, đáp ứng đầy đủ quy trình nghiệp vụ mua bán hàng trực tuyến.</a:t>
            </a:r>
          </a:p>
          <a:p>
            <a:pPr>
              <a:spcAft>
                <a:spcPts val="1200"/>
              </a:spcAft>
            </a:pPr>
            <a:r>
              <a:rPr sz="1350">
                <a:solidFill>
                  <a:srgbClr val="333333"/>
                </a:solidFill>
                <a:latin typeface="Arial"/>
              </a:rPr>
              <a:t>• Triển khai ứng dụng lên môi trường cloud thực tế trên nền tảng AWS với kiến trúc microservices-ready.</a:t>
            </a:r>
          </a:p>
        </p:txBody>
      </p:sp>
      <p:sp>
        <p:nvSpPr>
          <p:cNvPr id="4" name="TextBox 3"/>
          <p:cNvSpPr txBox="1"/>
          <p:nvPr/>
        </p:nvSpPr>
        <p:spPr>
          <a:xfrm>
            <a:off x="6309360" y="1371600"/>
            <a:ext cx="5120640" cy="4572000"/>
          </a:xfrm>
          <a:prstGeom prst="rect">
            <a:avLst/>
          </a:prstGeom>
          <a:noFill/>
        </p:spPr>
        <p:txBody>
          <a:bodyPr wrap="square">
            <a:spAutoFit/>
          </a:bodyPr>
          <a:lstStyle/>
          <a:p>
            <a:pPr>
              <a:spcAft>
                <a:spcPts val="1200"/>
              </a:spcAft>
              <a:defRPr b="1" sz="1600">
                <a:solidFill>
                  <a:srgbClr val="3E7D60"/>
                </a:solidFill>
              </a:defRPr>
            </a:pPr>
            <a:r>
              <a:t>Mục tiêu cụ thể:</a:t>
            </a:r>
          </a:p>
          <a:p>
            <a:pPr>
              <a:spcAft>
                <a:spcPts val="800"/>
              </a:spcAft>
            </a:pPr>
            <a:r>
              <a:rPr sz="1300">
                <a:solidFill>
                  <a:srgbClr val="333333"/>
                </a:solidFill>
                <a:latin typeface="Arial"/>
              </a:rPr>
              <a:t>• Tích hợp WebAR giúp khách hàng xem sản phẩm 3D trực quan trên thiết bị di động bằng ARCore/ARKit.</a:t>
            </a:r>
          </a:p>
          <a:p>
            <a:pPr>
              <a:spcAft>
                <a:spcPts val="800"/>
              </a:spcAft>
            </a:pPr>
            <a:r>
              <a:rPr sz="1300">
                <a:solidFill>
                  <a:srgbClr val="333333"/>
                </a:solidFill>
                <a:latin typeface="Arial"/>
              </a:rPr>
              <a:t>• Tích hợp Chatbot AI (Google Gemini API) tự động hóa quy trình tư vấn sản phẩm.</a:t>
            </a:r>
          </a:p>
          <a:p>
            <a:pPr>
              <a:spcAft>
                <a:spcPts val="800"/>
              </a:spcAft>
            </a:pPr>
            <a:r>
              <a:rPr sz="1300">
                <a:solidFill>
                  <a:srgbClr val="333333"/>
                </a:solidFill>
                <a:latin typeface="Arial"/>
              </a:rPr>
              <a:t>• Tích hợp Cổng thanh toán quốc gia VNPay giúp thực hiện giao dịch nhanh chóng và an toàn.</a:t>
            </a:r>
          </a:p>
          <a:p>
            <a:pPr>
              <a:spcAft>
                <a:spcPts val="800"/>
              </a:spcAft>
            </a:pPr>
            <a:r>
              <a:rPr sz="1300">
                <a:solidFill>
                  <a:srgbClr val="333333"/>
                </a:solidFill>
                <a:latin typeface="Arial"/>
              </a:rPr>
              <a:t>• Triển khai Docker Compose kết hợp Nginx Reverse Proxy bảo mật hệ thống.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3. CÁC GIẢI PHÁP ĐỀ XUẤT NỔI BẬT</a:t>
            </a:r>
          </a:p>
        </p:txBody>
      </p:sp>
      <p:sp>
        <p:nvSpPr>
          <p:cNvPr id="3" name="TextBox 2"/>
          <p:cNvSpPr txBox="1"/>
          <p:nvPr/>
        </p:nvSpPr>
        <p:spPr>
          <a:xfrm>
            <a:off x="640080" y="1645920"/>
            <a:ext cx="2468880" cy="4114800"/>
          </a:xfrm>
          <a:prstGeom prst="rect">
            <a:avLst/>
          </a:prstGeom>
          <a:noFill/>
        </p:spPr>
        <p:txBody>
          <a:bodyPr wrap="square">
            <a:spAutoFit/>
          </a:bodyPr>
          <a:lstStyle/>
          <a:p>
            <a:pPr>
              <a:spcBef>
                <a:spcPts val="800"/>
              </a:spcBef>
              <a:spcAft>
                <a:spcPts val="1200"/>
              </a:spcAft>
              <a:defRPr b="1" sz="1400">
                <a:solidFill>
                  <a:srgbClr val="2B6C8C"/>
                </a:solidFill>
              </a:defRPr>
            </a:pPr>
            <a:r>
              <a:t>Công nghệ WebAR</a:t>
            </a:r>
          </a:p>
          <a:p>
            <a:pPr>
              <a:spcAft>
                <a:spcPts val="800"/>
              </a:spcAft>
              <a:defRPr sz="1200">
                <a:solidFill>
                  <a:srgbClr val="333333"/>
                </a:solidFill>
              </a:defRPr>
            </a:pPr>
            <a:r>
              <a:t>Cho phép khách hàng tương tác trực quan 360 độ và quét AR ướm thử sản phẩm vào không gian thực tế tại nhà.</a:t>
            </a:r>
          </a:p>
        </p:txBody>
      </p:sp>
      <p:sp>
        <p:nvSpPr>
          <p:cNvPr id="4" name="Rectangle 3"/>
          <p:cNvSpPr/>
          <p:nvPr/>
        </p:nvSpPr>
        <p:spPr>
          <a:xfrm>
            <a:off x="640080" y="1371600"/>
            <a:ext cx="2468880" cy="365760"/>
          </a:xfrm>
          <a:prstGeom prst="rect">
            <a:avLst/>
          </a:prstGeom>
          <a:solidFill>
            <a:srgbClr val="2B6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1645920"/>
            <a:ext cx="2468880" cy="4114800"/>
          </a:xfrm>
          <a:prstGeom prst="rect">
            <a:avLst/>
          </a:prstGeom>
          <a:noFill/>
        </p:spPr>
        <p:txBody>
          <a:bodyPr wrap="square">
            <a:spAutoFit/>
          </a:bodyPr>
          <a:lstStyle/>
          <a:p>
            <a:pPr>
              <a:spcBef>
                <a:spcPts val="800"/>
              </a:spcBef>
              <a:spcAft>
                <a:spcPts val="1200"/>
              </a:spcAft>
              <a:defRPr b="1" sz="1400">
                <a:solidFill>
                  <a:srgbClr val="3E7D60"/>
                </a:solidFill>
              </a:defRPr>
            </a:pPr>
            <a:r>
              <a:t>Chatbot AI thông minh</a:t>
            </a:r>
          </a:p>
          <a:p>
            <a:pPr>
              <a:spcAft>
                <a:spcPts val="800"/>
              </a:spcAft>
              <a:defRPr sz="1200">
                <a:solidFill>
                  <a:srgbClr val="333333"/>
                </a:solidFill>
              </a:defRPr>
            </a:pPr>
            <a:r>
              <a:t>Sử dụng Gemini API kết hợp Context Injection để hỗ trợ giải đáp nhanh thông tin sản phẩm và tư vấn 24/7.</a:t>
            </a:r>
          </a:p>
        </p:txBody>
      </p:sp>
      <p:sp>
        <p:nvSpPr>
          <p:cNvPr id="6" name="Rectangle 5"/>
          <p:cNvSpPr/>
          <p:nvPr/>
        </p:nvSpPr>
        <p:spPr>
          <a:xfrm>
            <a:off x="3474720" y="1371600"/>
            <a:ext cx="2468880" cy="365760"/>
          </a:xfrm>
          <a:prstGeom prst="rect">
            <a:avLst/>
          </a:prstGeom>
          <a:solidFill>
            <a:srgbClr val="3E7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2468880" cy="4114800"/>
          </a:xfrm>
          <a:prstGeom prst="rect">
            <a:avLst/>
          </a:prstGeom>
          <a:noFill/>
        </p:spPr>
        <p:txBody>
          <a:bodyPr wrap="square">
            <a:spAutoFit/>
          </a:bodyPr>
          <a:lstStyle/>
          <a:p>
            <a:pPr>
              <a:spcBef>
                <a:spcPts val="800"/>
              </a:spcBef>
              <a:spcAft>
                <a:spcPts val="1200"/>
              </a:spcAft>
              <a:defRPr b="1" sz="1400">
                <a:solidFill>
                  <a:srgbClr val="1B365D"/>
                </a:solidFill>
              </a:defRPr>
            </a:pPr>
            <a:r>
              <a:t>Thanh toán trực tuyến</a:t>
            </a:r>
          </a:p>
          <a:p>
            <a:pPr>
              <a:spcAft>
                <a:spcPts val="800"/>
              </a:spcAft>
              <a:defRPr sz="1200">
                <a:solidFill>
                  <a:srgbClr val="333333"/>
                </a:solidFill>
              </a:defRPr>
            </a:pPr>
            <a:r>
              <a:t>Tích hợp ví điện tử và ngân hàng qua VNPay giúp giao dịch bảo mật, giảm thiểu rủi ro của phương thức COD.</a:t>
            </a:r>
          </a:p>
        </p:txBody>
      </p:sp>
      <p:sp>
        <p:nvSpPr>
          <p:cNvPr id="8" name="Rectangle 7"/>
          <p:cNvSpPr/>
          <p:nvPr/>
        </p:nvSpPr>
        <p:spPr>
          <a:xfrm>
            <a:off x="6309360" y="1371600"/>
            <a:ext cx="2468880" cy="3657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1645920"/>
            <a:ext cx="2468880" cy="4114800"/>
          </a:xfrm>
          <a:prstGeom prst="rect">
            <a:avLst/>
          </a:prstGeom>
          <a:noFill/>
        </p:spPr>
        <p:txBody>
          <a:bodyPr wrap="square">
            <a:spAutoFit/>
          </a:bodyPr>
          <a:lstStyle/>
          <a:p>
            <a:pPr>
              <a:spcBef>
                <a:spcPts val="800"/>
              </a:spcBef>
              <a:spcAft>
                <a:spcPts val="1200"/>
              </a:spcAft>
              <a:defRPr b="1" sz="1400">
                <a:solidFill>
                  <a:srgbClr val="333333"/>
                </a:solidFill>
              </a:defRPr>
            </a:pPr>
            <a:r>
              <a:t>Cloud Deployment</a:t>
            </a:r>
          </a:p>
          <a:p>
            <a:pPr>
              <a:spcAft>
                <a:spcPts val="800"/>
              </a:spcAft>
              <a:defRPr sz="1200">
                <a:solidFill>
                  <a:srgbClr val="333333"/>
                </a:solidFill>
              </a:defRPr>
            </a:pPr>
            <a:r>
              <a:t>Triển khai hệ thống lên hạ tầng đám mây AWS EC2 và AWS S3 bằng công nghệ Docker để tối ưu hiệu năng vận hành.</a:t>
            </a:r>
          </a:p>
        </p:txBody>
      </p:sp>
      <p:sp>
        <p:nvSpPr>
          <p:cNvPr id="10" name="Rectangle 9"/>
          <p:cNvSpPr/>
          <p:nvPr/>
        </p:nvSpPr>
        <p:spPr>
          <a:xfrm>
            <a:off x="9144000" y="1371600"/>
            <a:ext cx="2468880" cy="3657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4. KIẾN TRÚC TỔNG THỂ HỆ THỐNG</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1B365D"/>
                </a:solidFill>
              </a:defRPr>
            </a:pPr>
            <a:r>
              <a:t>Phân tích kiến trúc 3 tầng:</a:t>
            </a:r>
          </a:p>
          <a:p>
            <a:pPr>
              <a:spcAft>
                <a:spcPts val="800"/>
              </a:spcAft>
            </a:pPr>
            <a:r>
              <a:rPr sz="1300">
                <a:solidFill>
                  <a:srgbClr val="333333"/>
                </a:solidFill>
                <a:latin typeface="Arial"/>
              </a:rPr>
              <a:t>• Presentation (React + Tailwind): Client-side Single Page Application tương tác bất đồng bộ.</a:t>
            </a:r>
          </a:p>
          <a:p>
            <a:pPr>
              <a:spcAft>
                <a:spcPts val="800"/>
              </a:spcAft>
            </a:pPr>
            <a:r>
              <a:rPr sz="1300">
                <a:solidFill>
                  <a:srgbClr val="333333"/>
                </a:solidFill>
                <a:latin typeface="Arial"/>
              </a:rPr>
              <a:t>• Business Logic (Spring Boot): REST API xử lý logic nghiệp vụ, quản lý phân quyền và bảo mật.</a:t>
            </a:r>
          </a:p>
          <a:p>
            <a:pPr>
              <a:spcAft>
                <a:spcPts val="800"/>
              </a:spcAft>
            </a:pPr>
            <a:r>
              <a:rPr sz="1300">
                <a:solidFill>
                  <a:srgbClr val="333333"/>
                </a:solidFill>
                <a:latin typeface="Arial"/>
              </a:rPr>
              <a:t>• Data Layer (MySQL 8.0): Hệ cơ sở dữ liệu quan hệ, được di trú tự động bằng Flyway Migration.</a:t>
            </a:r>
          </a:p>
          <a:p>
            <a:pPr>
              <a:spcAft>
                <a:spcPts val="800"/>
              </a:spcAft>
            </a:pPr>
            <a:r>
              <a:rPr sz="1300">
                <a:solidFill>
                  <a:srgbClr val="333333"/>
                </a:solidFill>
                <a:latin typeface="Arial"/>
              </a:rPr>
              <a:t>• Nginx &amp; Docker Network: reverse proxy, phân luồng request, ẩn cổng chạy thực tế của backend.</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KIẾN TRÚC HỆ THỐNG trong báo cáo
(Sơ đồ Nginx - React SPA - Spring Boot API - MySQL)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5. CÔNG NGHỆ CHỦ ĐẠO TRONG HỆ THỐNG</a:t>
            </a:r>
          </a:p>
        </p:txBody>
      </p:sp>
      <p:sp>
        <p:nvSpPr>
          <p:cNvPr id="3" name="TextBox 2"/>
          <p:cNvSpPr txBox="1"/>
          <p:nvPr/>
        </p:nvSpPr>
        <p:spPr>
          <a:xfrm>
            <a:off x="640080" y="1371600"/>
            <a:ext cx="3383280" cy="4572000"/>
          </a:xfrm>
          <a:prstGeom prst="rect">
            <a:avLst/>
          </a:prstGeom>
          <a:noFill/>
        </p:spPr>
        <p:txBody>
          <a:bodyPr wrap="square">
            <a:spAutoFit/>
          </a:bodyPr>
          <a:lstStyle/>
          <a:p>
            <a:pPr>
              <a:spcAft>
                <a:spcPts val="1200"/>
              </a:spcAft>
              <a:defRPr b="1" sz="1600">
                <a:solidFill>
                  <a:srgbClr val="2B6C8C"/>
                </a:solidFill>
              </a:defRPr>
            </a:pPr>
            <a:r>
              <a:t>Frontend (Giao diện)</a:t>
            </a:r>
          </a:p>
          <a:p>
            <a:pPr>
              <a:spcAft>
                <a:spcPts val="600"/>
              </a:spcAft>
            </a:pPr>
            <a:r>
              <a:rPr sz="1250">
                <a:solidFill>
                  <a:srgbClr val="333333"/>
                </a:solidFill>
              </a:rPr>
              <a:t>✔ ReactJS 18 &amp; Tailwind CSS</a:t>
            </a:r>
          </a:p>
          <a:p>
            <a:pPr>
              <a:spcAft>
                <a:spcPts val="600"/>
              </a:spcAft>
            </a:pPr>
            <a:r>
              <a:rPr sz="1250">
                <a:solidFill>
                  <a:srgbClr val="333333"/>
                </a:solidFill>
              </a:rPr>
              <a:t>✔ React Router v6</a:t>
            </a:r>
          </a:p>
          <a:p>
            <a:pPr>
              <a:spcAft>
                <a:spcPts val="600"/>
              </a:spcAft>
            </a:pPr>
            <a:r>
              <a:rPr sz="1250">
                <a:solidFill>
                  <a:srgbClr val="333333"/>
                </a:solidFill>
              </a:rPr>
              <a:t>✔ Axios Interceptors</a:t>
            </a:r>
          </a:p>
          <a:p>
            <a:pPr>
              <a:spcAft>
                <a:spcPts val="600"/>
              </a:spcAft>
            </a:pPr>
            <a:r>
              <a:rPr sz="1250">
                <a:solidFill>
                  <a:srgbClr val="333333"/>
                </a:solidFill>
              </a:rPr>
              <a:t>✔ model-viewer &amp; Three.js</a:t>
            </a:r>
          </a:p>
          <a:p>
            <a:pPr>
              <a:spcAft>
                <a:spcPts val="600"/>
              </a:spcAft>
            </a:pPr>
            <a:r>
              <a:rPr sz="1250">
                <a:solidFill>
                  <a:srgbClr val="333333"/>
                </a:solidFill>
              </a:rPr>
              <a:t>✔ Recharts (Biểu đồ thống kê)</a:t>
            </a:r>
          </a:p>
        </p:txBody>
      </p:sp>
      <p:sp>
        <p:nvSpPr>
          <p:cNvPr id="4" name="TextBox 3"/>
          <p:cNvSpPr txBox="1"/>
          <p:nvPr/>
        </p:nvSpPr>
        <p:spPr>
          <a:xfrm>
            <a:off x="4389120" y="1371600"/>
            <a:ext cx="3383280" cy="4572000"/>
          </a:xfrm>
          <a:prstGeom prst="rect">
            <a:avLst/>
          </a:prstGeom>
          <a:noFill/>
        </p:spPr>
        <p:txBody>
          <a:bodyPr wrap="square">
            <a:spAutoFit/>
          </a:bodyPr>
          <a:lstStyle/>
          <a:p>
            <a:pPr>
              <a:spcAft>
                <a:spcPts val="1200"/>
              </a:spcAft>
              <a:defRPr b="1" sz="1600">
                <a:solidFill>
                  <a:srgbClr val="3E7D60"/>
                </a:solidFill>
              </a:defRPr>
            </a:pPr>
            <a:r>
              <a:t>Backend (Nghiệp vụ &amp; DB)</a:t>
            </a:r>
          </a:p>
          <a:p>
            <a:pPr>
              <a:spcAft>
                <a:spcPts val="600"/>
              </a:spcAft>
            </a:pPr>
            <a:r>
              <a:rPr sz="1250">
                <a:solidFill>
                  <a:srgbClr val="333333"/>
                </a:solidFill>
              </a:rPr>
              <a:t>✔ Spring Boot 3.3.0 (Java 17)</a:t>
            </a:r>
          </a:p>
          <a:p>
            <a:pPr>
              <a:spcAft>
                <a:spcPts val="600"/>
              </a:spcAft>
            </a:pPr>
            <a:r>
              <a:rPr sz="1250">
                <a:solidFill>
                  <a:srgbClr val="333333"/>
                </a:solidFill>
              </a:rPr>
              <a:t>✔ Spring Security &amp; stateless JWT</a:t>
            </a:r>
          </a:p>
          <a:p>
            <a:pPr>
              <a:spcAft>
                <a:spcPts val="600"/>
              </a:spcAft>
            </a:pPr>
            <a:r>
              <a:rPr sz="1250">
                <a:solidFill>
                  <a:srgbClr val="333333"/>
                </a:solidFill>
              </a:rPr>
              <a:t>✔ Spring Data JPA &amp; Hibernate 6</a:t>
            </a:r>
          </a:p>
          <a:p>
            <a:pPr>
              <a:spcAft>
                <a:spcPts val="600"/>
              </a:spcAft>
            </a:pPr>
            <a:r>
              <a:rPr sz="1250">
                <a:solidFill>
                  <a:srgbClr val="333333"/>
                </a:solidFill>
              </a:rPr>
              <a:t>✔ MySQL 8.0 &amp; Flyway</a:t>
            </a:r>
          </a:p>
          <a:p>
            <a:pPr>
              <a:spcAft>
                <a:spcPts val="600"/>
              </a:spcAft>
            </a:pPr>
            <a:r>
              <a:rPr sz="1250">
                <a:solidFill>
                  <a:srgbClr val="333333"/>
                </a:solidFill>
              </a:rPr>
              <a:t>✔ MapStruct &amp; Apache POI</a:t>
            </a:r>
          </a:p>
        </p:txBody>
      </p:sp>
      <p:sp>
        <p:nvSpPr>
          <p:cNvPr id="5" name="TextBox 4"/>
          <p:cNvSpPr txBox="1"/>
          <p:nvPr/>
        </p:nvSpPr>
        <p:spPr>
          <a:xfrm>
            <a:off x="8138160" y="1371600"/>
            <a:ext cx="3383280" cy="4572000"/>
          </a:xfrm>
          <a:prstGeom prst="rect">
            <a:avLst/>
          </a:prstGeom>
          <a:noFill/>
        </p:spPr>
        <p:txBody>
          <a:bodyPr wrap="square">
            <a:spAutoFit/>
          </a:bodyPr>
          <a:lstStyle/>
          <a:p>
            <a:pPr>
              <a:spcAft>
                <a:spcPts val="1200"/>
              </a:spcAft>
              <a:defRPr b="1" sz="1600">
                <a:solidFill>
                  <a:srgbClr val="1B365D"/>
                </a:solidFill>
              </a:defRPr>
            </a:pPr>
            <a:r>
              <a:t>Infrastructure (Hạ tầng)</a:t>
            </a:r>
          </a:p>
          <a:p>
            <a:pPr>
              <a:spcAft>
                <a:spcPts val="600"/>
              </a:spcAft>
            </a:pPr>
            <a:r>
              <a:rPr sz="1250">
                <a:solidFill>
                  <a:srgbClr val="333333"/>
                </a:solidFill>
              </a:rPr>
              <a:t>✔ Docker &amp; Docker Compose</a:t>
            </a:r>
          </a:p>
          <a:p>
            <a:pPr>
              <a:spcAft>
                <a:spcPts val="600"/>
              </a:spcAft>
            </a:pPr>
            <a:r>
              <a:rPr sz="1250">
                <a:solidFill>
                  <a:srgbClr val="333333"/>
                </a:solidFill>
              </a:rPr>
              <a:t>✔ Nginx Server</a:t>
            </a:r>
          </a:p>
          <a:p>
            <a:pPr>
              <a:spcAft>
                <a:spcPts val="600"/>
              </a:spcAft>
            </a:pPr>
            <a:r>
              <a:rPr sz="1250">
                <a:solidFill>
                  <a:srgbClr val="333333"/>
                </a:solidFill>
              </a:rPr>
              <a:t>✔ AWS EC2 Cloud VM</a:t>
            </a:r>
          </a:p>
          <a:p>
            <a:pPr>
              <a:spcAft>
                <a:spcPts val="600"/>
              </a:spcAft>
            </a:pPr>
            <a:r>
              <a:rPr sz="1250">
                <a:solidFill>
                  <a:srgbClr val="333333"/>
                </a:solidFill>
              </a:rPr>
              <a:t>✔ AWS S3 Cloud Storage</a:t>
            </a:r>
          </a:p>
          <a:p>
            <a:pPr>
              <a:spcAft>
                <a:spcPts val="600"/>
              </a:spcAft>
            </a:pPr>
            <a:r>
              <a:rPr sz="1250">
                <a:solidFill>
                  <a:srgbClr val="333333"/>
                </a:solidFill>
              </a:rPr>
              <a:t>✔ Github Actions CI/CD</a:t>
            </a:r>
          </a:p>
          <a:p>
            <a:pPr>
              <a:spcAft>
                <a:spcPts val="600"/>
              </a:spcAft>
            </a:pPr>
            <a:r>
              <a:rPr sz="1250">
                <a:solidFill>
                  <a:srgbClr val="333333"/>
                </a:solidFill>
              </a:rPr>
              <a:t>✔ Google Gemini API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6. PHÂN TÍCH VÀ THIẾT KẾ HỆ THỐNG</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1B365D"/>
                </a:solidFill>
              </a:defRPr>
            </a:pPr>
            <a:r>
              <a:t>Phân tích thiết kế hệ thống:</a:t>
            </a:r>
          </a:p>
          <a:p>
            <a:pPr>
              <a:spcAft>
                <a:spcPts val="800"/>
              </a:spcAft>
            </a:pPr>
            <a:r>
              <a:rPr sz="1300">
                <a:solidFill>
                  <a:srgbClr val="333333"/>
                </a:solidFill>
                <a:latin typeface="Arial"/>
              </a:rPr>
              <a:t>• Xác định Actor: Gồm ADMIN (Toàn quyền), STAFF (Nhân viên quản lý đơn hàng), CUSTOMER (Khách mua hàng).</a:t>
            </a:r>
          </a:p>
          <a:p>
            <a:pPr>
              <a:spcAft>
                <a:spcPts val="800"/>
              </a:spcAft>
            </a:pPr>
            <a:r>
              <a:rPr sz="1300">
                <a:solidFill>
                  <a:srgbClr val="333333"/>
                </a:solidFill>
                <a:latin typeface="Arial"/>
              </a:rPr>
              <a:t>• Use Case tổng quát: Quản lý giỏ hàng, đặt hàng, xem AR 3D, chat AI, và Admin quản lý dashboard.</a:t>
            </a:r>
          </a:p>
          <a:p>
            <a:pPr>
              <a:spcAft>
                <a:spcPts val="800"/>
              </a:spcAft>
            </a:pPr>
            <a:r>
              <a:rPr sz="1300">
                <a:solidFill>
                  <a:srgbClr val="333333"/>
                </a:solidFill>
                <a:latin typeface="Arial"/>
              </a:rPr>
              <a:t>• Sơ đồ tuần tự (Sequence Diagram): Minh họa quy trình đặt hàng và thanh toán VNPay có kiểm tra chữ ký an toàn.</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SƠ ĐỒ USE CASE TỔNG THỂ hoặc
SƠ ĐỒ TUẦN TỰ ĐẶT HÀNG / THANH TOÁN VNPay trong báo cáo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7. THIẾT KẾ CƠ SỞ DỮ LIỆU (ERD)</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2B6C8C"/>
                </a:solidFill>
              </a:defRPr>
            </a:pPr>
            <a:r>
              <a:t>Đặc điểm mô hình cơ sở dữ liệu:</a:t>
            </a:r>
          </a:p>
          <a:p>
            <a:pPr>
              <a:spcAft>
                <a:spcPts val="800"/>
              </a:spcAft>
            </a:pPr>
            <a:r>
              <a:rPr sz="1300">
                <a:solidFill>
                  <a:srgbClr val="333333"/>
                </a:solidFill>
                <a:latin typeface="Arial"/>
              </a:rPr>
              <a:t>• Mô hình dữ liệu quan hệ (RDBMS) gồm ~20 bảng được chuẩn hóa 3NF chống dư thừa dữ liệu.</a:t>
            </a:r>
          </a:p>
          <a:p>
            <a:pPr>
              <a:spcAft>
                <a:spcPts val="800"/>
              </a:spcAft>
            </a:pPr>
            <a:r>
              <a:rPr sz="1300">
                <a:solidFill>
                  <a:srgbClr val="333333"/>
                </a:solidFill>
                <a:latin typeface="Arial"/>
              </a:rPr>
              <a:t>• Quan hệ RBAC (users - user_roles - roles - role_permissions - permissions) độc lập.</a:t>
            </a:r>
          </a:p>
          <a:p>
            <a:pPr>
              <a:spcAft>
                <a:spcPts val="800"/>
              </a:spcAft>
            </a:pPr>
            <a:r>
              <a:rPr sz="1300">
                <a:solidFill>
                  <a:srgbClr val="333333"/>
                </a:solidFill>
                <a:latin typeface="Arial"/>
              </a:rPr>
              <a:t>• Quan hệ Sản phẩm - Biến thể - Tài sản AR: Hỗ trợ một sản phẩm có nhiều biến thể màu sắc/kích cỡ và nhiều định dạng file 3D (.glb, .usdz).</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SƠ ĐỒ THIẾT KẾ CƠ SỞ DỮ LIỆU (ERD) trong báo cáo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8. THIẾT KẾ BẢO MẬT &amp; PHÂN QUYỀN CHẶT CHẼ</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1B365D"/>
                </a:solidFill>
              </a:defRPr>
            </a:pPr>
            <a:r>
              <a:t>Cơ chế bảo mật hệ thống:</a:t>
            </a:r>
          </a:p>
          <a:p>
            <a:pPr>
              <a:spcAft>
                <a:spcPts val="800"/>
              </a:spcAft>
            </a:pPr>
            <a:r>
              <a:rPr sz="1300">
                <a:solidFill>
                  <a:srgbClr val="333333"/>
                </a:solidFill>
                <a:latin typeface="Arial"/>
              </a:rPr>
              <a:t>• Stateless JWT Authentication: Lưu thông tin vai trò trực tiếp trong payload của token, giảm tải truy vấn DB khi xác thực.</a:t>
            </a:r>
          </a:p>
          <a:p>
            <a:pPr>
              <a:spcAft>
                <a:spcPts val="800"/>
              </a:spcAft>
            </a:pPr>
            <a:r>
              <a:rPr sz="1300">
                <a:solidFill>
                  <a:srgbClr val="333333"/>
                </a:solidFill>
                <a:latin typeface="Arial"/>
              </a:rPr>
              <a:t>• Role-Based Access Control (RBAC): Kiểm soát phân quyền 2 lớp bảo vệ API bằng Security Filter Chain và @PreAuthorize.</a:t>
            </a:r>
          </a:p>
          <a:p>
            <a:pPr>
              <a:spcAft>
                <a:spcPts val="800"/>
              </a:spcAft>
            </a:pPr>
            <a:r>
              <a:rPr sz="1300">
                <a:solidFill>
                  <a:srgbClr val="333333"/>
                </a:solidFill>
                <a:latin typeface="Arial"/>
              </a:rPr>
              <a:t>• Google OAuth2: Tự động đồng bộ tài khoản Google và sinh JWT tương ứng.</a:t>
            </a:r>
          </a:p>
          <a:p>
            <a:pPr>
              <a:spcAft>
                <a:spcPts val="800"/>
              </a:spcAft>
            </a:pPr>
            <a:r>
              <a:rPr sz="1300">
                <a:solidFill>
                  <a:srgbClr val="333333"/>
                </a:solidFill>
                <a:latin typeface="Arial"/>
              </a:rPr>
              <a:t>• Mã hóa mật khẩu BCrypt: Sử dụng cost factor 10 đảm bảo an toàn dữ liệu mật khẩu.</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SƠ ĐỒ LUỒNG XÁC THỰC JWT hoặc
LƯỢC ĐỒ PHÂN QUYỀN RBAC trong báo cáo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9. CÁC CHỨC NĂNG NGHIỆP VỤ NỔI BẬT</a:t>
            </a:r>
          </a:p>
        </p:txBody>
      </p:sp>
      <p:sp>
        <p:nvSpPr>
          <p:cNvPr id="3" name="TextBox 2"/>
          <p:cNvSpPr txBox="1"/>
          <p:nvPr/>
        </p:nvSpPr>
        <p:spPr>
          <a:xfrm>
            <a:off x="640080" y="1371600"/>
            <a:ext cx="5120640" cy="4572000"/>
          </a:xfrm>
          <a:prstGeom prst="rect">
            <a:avLst/>
          </a:prstGeom>
          <a:noFill/>
        </p:spPr>
        <p:txBody>
          <a:bodyPr wrap="square">
            <a:spAutoFit/>
          </a:bodyPr>
          <a:lstStyle/>
          <a:p>
            <a:pPr>
              <a:spcAft>
                <a:spcPts val="1200"/>
              </a:spcAft>
              <a:defRPr b="1" sz="1600">
                <a:solidFill>
                  <a:srgbClr val="2B6C8C"/>
                </a:solidFill>
              </a:defRPr>
            </a:pPr>
            <a:r>
              <a:t>Nghiệp vụ phía Khách hàng:</a:t>
            </a:r>
          </a:p>
          <a:p>
            <a:pPr>
              <a:spcAft>
                <a:spcPts val="800"/>
              </a:spcAft>
            </a:pPr>
            <a:r>
              <a:rPr sz="1300">
                <a:solidFill>
                  <a:srgbClr val="333333"/>
                </a:solidFill>
                <a:latin typeface="Arial"/>
              </a:rPr>
              <a:t>• Xem và duyệt sản phẩm theo Danh mục/Thương hiệu.</a:t>
            </a:r>
          </a:p>
          <a:p>
            <a:pPr>
              <a:spcAft>
                <a:spcPts val="800"/>
              </a:spcAft>
            </a:pPr>
            <a:r>
              <a:rPr sz="1300">
                <a:solidFill>
                  <a:srgbClr val="333333"/>
                </a:solidFill>
                <a:latin typeface="Arial"/>
              </a:rPr>
              <a:t>• Quản lý Giỏ hàng trực quan, hỗ trợ áp dụng Coupon giảm giá động.</a:t>
            </a:r>
          </a:p>
          <a:p>
            <a:pPr>
              <a:spcAft>
                <a:spcPts val="800"/>
              </a:spcAft>
            </a:pPr>
            <a:r>
              <a:rPr sz="1300">
                <a:solidFill>
                  <a:srgbClr val="333333"/>
                </a:solidFill>
                <a:latin typeface="Arial"/>
              </a:rPr>
              <a:t>• Đặt hàng nhanh và chọn địa chỉ giao hàng lưu sẵn.</a:t>
            </a:r>
          </a:p>
          <a:p>
            <a:pPr>
              <a:spcAft>
                <a:spcPts val="800"/>
              </a:spcAft>
            </a:pPr>
            <a:r>
              <a:rPr sz="1300">
                <a:solidFill>
                  <a:srgbClr val="333333"/>
                </a:solidFill>
                <a:latin typeface="Arial"/>
              </a:rPr>
              <a:t>• Tích hợp cổng VNPay: Chữ ký số mã hóa HMAC-SHA512 an toàn, xác thực giao dịch ngầm qua IPN API.</a:t>
            </a:r>
          </a:p>
        </p:txBody>
      </p:sp>
      <p:sp>
        <p:nvSpPr>
          <p:cNvPr id="4" name="TextBox 3"/>
          <p:cNvSpPr txBox="1"/>
          <p:nvPr/>
        </p:nvSpPr>
        <p:spPr>
          <a:xfrm>
            <a:off x="6309360" y="1371600"/>
            <a:ext cx="5120640" cy="4572000"/>
          </a:xfrm>
          <a:prstGeom prst="rect">
            <a:avLst/>
          </a:prstGeom>
          <a:noFill/>
        </p:spPr>
        <p:txBody>
          <a:bodyPr wrap="square">
            <a:spAutoFit/>
          </a:bodyPr>
          <a:lstStyle/>
          <a:p>
            <a:pPr>
              <a:spcAft>
                <a:spcPts val="1200"/>
              </a:spcAft>
              <a:defRPr b="1" sz="1600">
                <a:solidFill>
                  <a:srgbClr val="3E7D60"/>
                </a:solidFill>
              </a:defRPr>
            </a:pPr>
            <a:r>
              <a:t>Dashboard quản trị Admin &amp; Staff:</a:t>
            </a:r>
          </a:p>
          <a:p>
            <a:pPr>
              <a:spcAft>
                <a:spcPts val="800"/>
              </a:spcAft>
            </a:pPr>
            <a:r>
              <a:rPr sz="1300">
                <a:solidFill>
                  <a:srgbClr val="333333"/>
                </a:solidFill>
                <a:latin typeface="Arial"/>
              </a:rPr>
              <a:t>• Quản lý vòng đời sản phẩm, biến thể và quản lý liên kết file 3D/AR.</a:t>
            </a:r>
          </a:p>
          <a:p>
            <a:pPr>
              <a:spcAft>
                <a:spcPts val="800"/>
              </a:spcAft>
            </a:pPr>
            <a:r>
              <a:rPr sz="1300">
                <a:solidFill>
                  <a:srgbClr val="333333"/>
                </a:solidFill>
                <a:latin typeface="Arial"/>
              </a:rPr>
              <a:t>• Import sản phẩm hàng loạt từ Excel tối ưu JDBC Batch Insert tốc độ cao.</a:t>
            </a:r>
          </a:p>
          <a:p>
            <a:pPr>
              <a:spcAft>
                <a:spcPts val="800"/>
              </a:spcAft>
            </a:pPr>
            <a:r>
              <a:rPr sz="1300">
                <a:solidFill>
                  <a:srgbClr val="333333"/>
                </a:solidFill>
                <a:latin typeface="Arial"/>
              </a:rPr>
              <a:t>• Xử lý đơn hàng tập trung (Chờ duyệt -&gt; Giao hàng -&gt; Hoàn thành).</a:t>
            </a:r>
          </a:p>
          <a:p>
            <a:pPr>
              <a:spcAft>
                <a:spcPts val="800"/>
              </a:spcAft>
            </a:pPr>
            <a:r>
              <a:rPr sz="1300">
                <a:solidFill>
                  <a:srgbClr val="333333"/>
                </a:solidFill>
                <a:latin typeface="Arial"/>
              </a:rPr>
              <a:t>• Biểu đồ thống kê doanh số và doanh thu trực quan bằng Recharts.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10. CÔNG NGHỆ WEBAR &amp; HIỂN THỊ MÔ HÌNH 3D</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1B365D"/>
                </a:solidFill>
              </a:defRPr>
            </a:pPr>
            <a:r>
              <a:t>Cơ chế hoạt động của tính năng WebAR:</a:t>
            </a:r>
          </a:p>
          <a:p>
            <a:pPr>
              <a:spcAft>
                <a:spcPts val="800"/>
              </a:spcAft>
            </a:pPr>
            <a:r>
              <a:rPr sz="1300">
                <a:solidFill>
                  <a:srgbClr val="333333"/>
                </a:solidFill>
                <a:latin typeface="Arial"/>
              </a:rPr>
              <a:t>• Sử dụng thẻ &lt;model-viewer&gt; tích hợp WebXR API hiển thị trực tiếp trên trình duyệt di động mà không cần cài đặt ứng dụng.</a:t>
            </a:r>
          </a:p>
          <a:p>
            <a:pPr>
              <a:spcAft>
                <a:spcPts val="800"/>
              </a:spcAft>
            </a:pPr>
            <a:r>
              <a:rPr sz="1300">
                <a:solidFill>
                  <a:srgbClr val="333333"/>
                </a:solidFill>
                <a:latin typeface="Arial"/>
              </a:rPr>
              <a:t>• Hỗ trợ file định dạng GLB (chuẩn Android/Web) và USDZ (chuẩn iOS).</a:t>
            </a:r>
          </a:p>
          <a:p>
            <a:pPr>
              <a:spcAft>
                <a:spcPts val="800"/>
              </a:spcAft>
            </a:pPr>
            <a:r>
              <a:rPr sz="1300">
                <a:solidFill>
                  <a:srgbClr val="333333"/>
                </a:solidFill>
                <a:latin typeface="Arial"/>
              </a:rPr>
              <a:t>• Thuật toán nén Draco compression: Giảm dung lượng file 3D lớn tới 70-80% giúp tối ưu tốc độ tải và tiết kiệm băng thông.</a:t>
            </a:r>
          </a:p>
          <a:p>
            <a:pPr>
              <a:spcAft>
                <a:spcPts val="800"/>
              </a:spcAft>
            </a:pPr>
            <a:r>
              <a:rPr sz="1300">
                <a:solidFill>
                  <a:srgbClr val="333333"/>
                </a:solidFill>
                <a:latin typeface="Arial"/>
              </a:rPr>
              <a:t>• Kích hoạt AR quét mặt phẳng thực tế ướm thử sản phẩm tỉ lệ 1:1.</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giao diện QUÉT THỬ WEBAR 3D trên điện thoại hoặc
Cách hiển thị mô hình 3D trong giao diện chi tiết sản phẩm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11. TRỢ LÝ ẢO CHATBOT AI HỖ TRỢ KHÁCH HÀNG</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3E7D60"/>
                </a:solidFill>
              </a:defRPr>
            </a:pPr>
            <a:r>
              <a:t>Kiến trúc tích hợp Chatbot AI:</a:t>
            </a:r>
          </a:p>
          <a:p>
            <a:pPr>
              <a:spcAft>
                <a:spcPts val="800"/>
              </a:spcAft>
            </a:pPr>
            <a:r>
              <a:rPr sz="1300">
                <a:solidFill>
                  <a:srgbClr val="333333"/>
                </a:solidFill>
                <a:latin typeface="Arial"/>
              </a:rPr>
              <a:t>• Kết nối trực tiếp đến Google Gemini API bằng SDK Java của Google.</a:t>
            </a:r>
          </a:p>
          <a:p>
            <a:pPr>
              <a:spcAft>
                <a:spcPts val="800"/>
              </a:spcAft>
            </a:pPr>
            <a:r>
              <a:rPr sz="1300">
                <a:solidFill>
                  <a:srgbClr val="333333"/>
                </a:solidFill>
                <a:latin typeface="Arial"/>
              </a:rPr>
              <a:t>• Context Injection: Khi khách hỏi, backend tự động lấy danh sách sản phẩm hiện có và thông tin cấu hình nạp vào Prompt.</a:t>
            </a:r>
          </a:p>
          <a:p>
            <a:pPr>
              <a:spcAft>
                <a:spcPts val="800"/>
              </a:spcAft>
            </a:pPr>
            <a:r>
              <a:rPr sz="1300">
                <a:solidFill>
                  <a:srgbClr val="333333"/>
                </a:solidFill>
                <a:latin typeface="Arial"/>
              </a:rPr>
              <a:t>• Prompt Engineering kiểm soát phạm vi: AI chỉ hỗ trợ tư vấn các sản phẩm của PD-Shop, từ chối các câu hỏi ngoài phạm vi môn học/cửa hàng.</a:t>
            </a:r>
          </a:p>
          <a:p>
            <a:pPr>
              <a:spcAft>
                <a:spcPts val="800"/>
              </a:spcAft>
            </a:pPr>
            <a:r>
              <a:rPr sz="1300">
                <a:solidFill>
                  <a:srgbClr val="333333"/>
                </a:solidFill>
                <a:latin typeface="Arial"/>
              </a:rPr>
              <a:t>• Lưu lịch sử chat qua chat_sessions để giữ ngữ cảnh hội thoại liên tục.</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GIAO DIỆN CHAT AI tư vấn sản phẩm hoặc
SƠ ĐỒ LUỒNG XỬ LÝ CONTEXT INJECTION từ Backend gửi sang Gemini API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12. TRIỂN KHAI HỆ THỐNG LÊN AWS CLOUD</a:t>
            </a:r>
          </a:p>
        </p:txBody>
      </p:sp>
      <p:sp>
        <p:nvSpPr>
          <p:cNvPr id="3" name="TextBox 2"/>
          <p:cNvSpPr txBox="1"/>
          <p:nvPr/>
        </p:nvSpPr>
        <p:spPr>
          <a:xfrm>
            <a:off x="640080" y="1371600"/>
            <a:ext cx="4572000" cy="4572000"/>
          </a:xfrm>
          <a:prstGeom prst="rect">
            <a:avLst/>
          </a:prstGeom>
          <a:noFill/>
        </p:spPr>
        <p:txBody>
          <a:bodyPr wrap="square">
            <a:spAutoFit/>
          </a:bodyPr>
          <a:lstStyle/>
          <a:p>
            <a:pPr>
              <a:spcAft>
                <a:spcPts val="1200"/>
              </a:spcAft>
              <a:defRPr b="1" sz="1600">
                <a:solidFill>
                  <a:srgbClr val="2B6C8C"/>
                </a:solidFill>
              </a:defRPr>
            </a:pPr>
            <a:r>
              <a:t>Mô hình triển khai thực tế:</a:t>
            </a:r>
          </a:p>
          <a:p>
            <a:pPr>
              <a:spcAft>
                <a:spcPts val="800"/>
              </a:spcAft>
            </a:pPr>
            <a:r>
              <a:rPr sz="1300">
                <a:solidFill>
                  <a:srgbClr val="333333"/>
                </a:solidFill>
                <a:latin typeface="Arial"/>
              </a:rPr>
              <a:t>• Sử dụng Docker Compose điều phối 3 container dịch vụ (Nginx reverse proxy, Spring Boot Backend, MySQL Database).</a:t>
            </a:r>
          </a:p>
          <a:p>
            <a:pPr>
              <a:spcAft>
                <a:spcPts val="800"/>
              </a:spcAft>
            </a:pPr>
            <a:r>
              <a:rPr sz="1300">
                <a:solidFill>
                  <a:srgbClr val="333333"/>
                </a:solidFill>
                <a:latin typeface="Arial"/>
              </a:rPr>
              <a:t>• Hosting: Cài đặt trên AWS EC2 nền tảng Ubuntu 22.04 LTS.</a:t>
            </a:r>
          </a:p>
          <a:p>
            <a:pPr>
              <a:spcAft>
                <a:spcPts val="800"/>
              </a:spcAft>
            </a:pPr>
            <a:r>
              <a:rPr sz="1300">
                <a:solidFill>
                  <a:srgbClr val="333333"/>
                </a:solidFill>
                <a:latin typeface="Arial"/>
              </a:rPr>
              <a:t>• Media Storage: Tải ảnh sản phẩm và mô hình 3D (.glb, .usdz) lên AWS S3 giúp giải phóng ổ cứng server.</a:t>
            </a:r>
          </a:p>
          <a:p>
            <a:pPr>
              <a:spcAft>
                <a:spcPts val="800"/>
              </a:spcAft>
            </a:pPr>
            <a:r>
              <a:rPr sz="1300">
                <a:solidFill>
                  <a:srgbClr val="333333"/>
                </a:solidFill>
                <a:latin typeface="Arial"/>
              </a:rPr>
              <a:t>• CI/CD Pipeline: Cấu hình tự động kiểm thử và deploy bằng Github Actions.</a:t>
            </a:r>
          </a:p>
        </p:txBody>
      </p:sp>
      <p:sp>
        <p:nvSpPr>
          <p:cNvPr id="4" name="Rounded Rectangle 3"/>
          <p:cNvSpPr/>
          <p:nvPr/>
        </p:nvSpPr>
        <p:spPr>
          <a:xfrm>
            <a:off x="5669280" y="1371600"/>
            <a:ext cx="5852160" cy="4572000"/>
          </a:xfrm>
          <a:prstGeom prst="roundRect">
            <a:avLst/>
          </a:prstGeom>
          <a:solidFill>
            <a:srgbClr val="DCE1E6"/>
          </a:solidFill>
          <a:ln w="19050">
            <a:solidFill>
              <a:srgbClr val="2B6C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2B6C8C"/>
                </a:solidFill>
                <a:latin typeface="Arial"/>
              </a:rPr>
              <a:t>[ HÌNH ẢNH MINH HỌA GỢI Ý ]
Chụp hình SƠ ĐỒ TRIỂN KHAI DOCKER TRÊN AWS EC2 hoặc
SƠ ĐỒ QUY TRÌNH CI/CD GITHUB ACTIONS trong báo cáo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13. KẾT QUẢ ĐẠT ĐƯỢC VÀ KIỂM THỬ</a:t>
            </a:r>
          </a:p>
        </p:txBody>
      </p:sp>
      <p:sp>
        <p:nvSpPr>
          <p:cNvPr id="3" name="TextBox 2"/>
          <p:cNvSpPr txBox="1"/>
          <p:nvPr/>
        </p:nvSpPr>
        <p:spPr>
          <a:xfrm>
            <a:off x="640080" y="1371600"/>
            <a:ext cx="5120640" cy="4572000"/>
          </a:xfrm>
          <a:prstGeom prst="rect">
            <a:avLst/>
          </a:prstGeom>
          <a:noFill/>
        </p:spPr>
        <p:txBody>
          <a:bodyPr wrap="square">
            <a:spAutoFit/>
          </a:bodyPr>
          <a:lstStyle/>
          <a:p>
            <a:pPr>
              <a:spcAft>
                <a:spcPts val="1200"/>
              </a:spcAft>
              <a:defRPr b="1" sz="1600">
                <a:solidFill>
                  <a:srgbClr val="1B365D"/>
                </a:solidFill>
              </a:defRPr>
            </a:pPr>
            <a:r>
              <a:t>Số liệu thực tế của đồ án:</a:t>
            </a:r>
          </a:p>
          <a:p>
            <a:pPr>
              <a:spcAft>
                <a:spcPts val="800"/>
              </a:spcAft>
            </a:pPr>
            <a:r>
              <a:rPr sz="1300">
                <a:solidFill>
                  <a:srgbClr val="333333"/>
                </a:solidFill>
                <a:latin typeface="Arial"/>
              </a:rPr>
              <a:t>• Hoàn thành toàn bộ các tính năng nghiệp vụ mua hàng và admin dashboard.</a:t>
            </a:r>
          </a:p>
          <a:p>
            <a:pPr>
              <a:spcAft>
                <a:spcPts val="800"/>
              </a:spcAft>
            </a:pPr>
            <a:r>
              <a:rPr sz="1300">
                <a:solidFill>
                  <a:srgbClr val="333333"/>
                </a:solidFill>
                <a:latin typeface="Arial"/>
              </a:rPr>
              <a:t>• Mã nguồn Backend: Xây dựng hoàn chỉnh ~165 tập tin lớp Java.</a:t>
            </a:r>
          </a:p>
          <a:p>
            <a:pPr>
              <a:spcAft>
                <a:spcPts val="800"/>
              </a:spcAft>
            </a:pPr>
            <a:r>
              <a:rPr sz="1300">
                <a:solidFill>
                  <a:srgbClr val="333333"/>
                </a:solidFill>
                <a:latin typeface="Arial"/>
              </a:rPr>
              <a:t>• Mã nguồn Frontend: Xây dựng ~80+ components React UI hoàn thiện.</a:t>
            </a:r>
          </a:p>
          <a:p>
            <a:pPr>
              <a:spcAft>
                <a:spcPts val="800"/>
              </a:spcAft>
            </a:pPr>
            <a:r>
              <a:rPr sz="1300">
                <a:solidFill>
                  <a:srgbClr val="333333"/>
                </a:solidFill>
                <a:latin typeface="Arial"/>
              </a:rPr>
              <a:t>• Triển khai: Triển khai trực tuyến thành công, thời gian khởi động Spring Boot trên EC2 mất ~23 giây.</a:t>
            </a:r>
          </a:p>
        </p:txBody>
      </p:sp>
      <p:sp>
        <p:nvSpPr>
          <p:cNvPr id="4" name="TextBox 3"/>
          <p:cNvSpPr txBox="1"/>
          <p:nvPr/>
        </p:nvSpPr>
        <p:spPr>
          <a:xfrm>
            <a:off x="6309360" y="1371600"/>
            <a:ext cx="5120640" cy="4572000"/>
          </a:xfrm>
          <a:prstGeom prst="rect">
            <a:avLst/>
          </a:prstGeom>
          <a:noFill/>
        </p:spPr>
        <p:txBody>
          <a:bodyPr wrap="square">
            <a:spAutoFit/>
          </a:bodyPr>
          <a:lstStyle/>
          <a:p>
            <a:pPr>
              <a:spcAft>
                <a:spcPts val="1200"/>
              </a:spcAft>
              <a:defRPr b="1" sz="1600">
                <a:solidFill>
                  <a:srgbClr val="3E7D60"/>
                </a:solidFill>
              </a:defRPr>
            </a:pPr>
            <a:r>
              <a:t>Kết quả kiểm thử (Testing):</a:t>
            </a:r>
          </a:p>
          <a:p>
            <a:pPr>
              <a:spcAft>
                <a:spcPts val="800"/>
              </a:spcAft>
            </a:pPr>
            <a:r>
              <a:rPr sz="1300">
                <a:solidFill>
                  <a:srgbClr val="333333"/>
                </a:solidFill>
                <a:latin typeface="Arial"/>
              </a:rPr>
              <a:t>• Kiểm thử chức năng (Functional Testing): Đạt 100% các ca kiểm thử hoạt động đúng nghiệp vụ.</a:t>
            </a:r>
          </a:p>
          <a:p>
            <a:pPr>
              <a:spcAft>
                <a:spcPts val="800"/>
              </a:spcAft>
            </a:pPr>
            <a:r>
              <a:rPr sz="1300">
                <a:solidFill>
                  <a:srgbClr val="333333"/>
                </a:solidFill>
                <a:latin typeface="Arial"/>
              </a:rPr>
              <a:t>• Kiểm thử bảo mật: Test Rate Limiting chống spam API, test chặn token JWT giả mạo thành công.</a:t>
            </a:r>
          </a:p>
          <a:p>
            <a:pPr>
              <a:spcAft>
                <a:spcPts val="800"/>
              </a:spcAft>
            </a:pPr>
            <a:r>
              <a:rPr sz="1300">
                <a:solidFill>
                  <a:srgbClr val="333333"/>
                </a:solidFill>
                <a:latin typeface="Arial"/>
              </a:rPr>
              <a:t>• Kiểm thử hiệu năng: Thực hiện tối ưu nén tệp 3D Draco và gộp JDBC batch insert tăng tốc độ import file Excel.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14. ƯU ĐIỂM NỔI BẬT CỦA ĐỀ TÀI</a:t>
            </a:r>
          </a:p>
        </p:txBody>
      </p:sp>
      <p:sp>
        <p:nvSpPr>
          <p:cNvPr id="3" name="TextBox 2"/>
          <p:cNvSpPr txBox="1"/>
          <p:nvPr/>
        </p:nvSpPr>
        <p:spPr>
          <a:xfrm>
            <a:off x="640080" y="1645920"/>
            <a:ext cx="2468880" cy="4114800"/>
          </a:xfrm>
          <a:prstGeom prst="rect">
            <a:avLst/>
          </a:prstGeom>
          <a:noFill/>
        </p:spPr>
        <p:txBody>
          <a:bodyPr wrap="square">
            <a:spAutoFit/>
          </a:bodyPr>
          <a:lstStyle/>
          <a:p>
            <a:pPr>
              <a:spcBef>
                <a:spcPts val="800"/>
              </a:spcBef>
              <a:spcAft>
                <a:spcPts val="1200"/>
              </a:spcAft>
              <a:defRPr b="1" sz="1400">
                <a:solidFill>
                  <a:srgbClr val="2B6C8C"/>
                </a:solidFill>
              </a:defRPr>
            </a:pPr>
            <a:r>
              <a:t>Trải nghiệm WebAR</a:t>
            </a:r>
          </a:p>
          <a:p>
            <a:pPr>
              <a:spcAft>
                <a:spcPts val="800"/>
              </a:spcAft>
              <a:defRPr sz="1200">
                <a:solidFill>
                  <a:srgbClr val="333333"/>
                </a:solidFill>
              </a:defRPr>
            </a:pPr>
            <a:r>
              <a:t>Khách hàng xem sản phẩm 3D trực quan, tăng tỷ lệ chốt đơn và giảm hoàn hàng.</a:t>
            </a:r>
          </a:p>
        </p:txBody>
      </p:sp>
      <p:sp>
        <p:nvSpPr>
          <p:cNvPr id="4" name="Rectangle 3"/>
          <p:cNvSpPr/>
          <p:nvPr/>
        </p:nvSpPr>
        <p:spPr>
          <a:xfrm>
            <a:off x="640080" y="1371600"/>
            <a:ext cx="2468880" cy="365760"/>
          </a:xfrm>
          <a:prstGeom prst="rect">
            <a:avLst/>
          </a:prstGeom>
          <a:solidFill>
            <a:srgbClr val="2B6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1645920"/>
            <a:ext cx="2468880" cy="4114800"/>
          </a:xfrm>
          <a:prstGeom prst="rect">
            <a:avLst/>
          </a:prstGeom>
          <a:noFill/>
        </p:spPr>
        <p:txBody>
          <a:bodyPr wrap="square">
            <a:spAutoFit/>
          </a:bodyPr>
          <a:lstStyle/>
          <a:p>
            <a:pPr>
              <a:spcBef>
                <a:spcPts val="800"/>
              </a:spcBef>
              <a:spcAft>
                <a:spcPts val="1200"/>
              </a:spcAft>
              <a:defRPr b="1" sz="1400">
                <a:solidFill>
                  <a:srgbClr val="3E7D60"/>
                </a:solidFill>
              </a:defRPr>
            </a:pPr>
            <a:r>
              <a:t>Chatbot AI thông minh</a:t>
            </a:r>
          </a:p>
          <a:p>
            <a:pPr>
              <a:spcAft>
                <a:spcPts val="800"/>
              </a:spcAft>
              <a:defRPr sz="1200">
                <a:solidFill>
                  <a:srgbClr val="333333"/>
                </a:solidFill>
              </a:defRPr>
            </a:pPr>
            <a:r>
              <a:t>Tự động hóa chăm sóc khách hàng 24/7, tối ưu hóa quy trình tư vấn nhanh.</a:t>
            </a:r>
          </a:p>
        </p:txBody>
      </p:sp>
      <p:sp>
        <p:nvSpPr>
          <p:cNvPr id="6" name="Rectangle 5"/>
          <p:cNvSpPr/>
          <p:nvPr/>
        </p:nvSpPr>
        <p:spPr>
          <a:xfrm>
            <a:off x="3474720" y="1371600"/>
            <a:ext cx="2468880" cy="365760"/>
          </a:xfrm>
          <a:prstGeom prst="rect">
            <a:avLst/>
          </a:prstGeom>
          <a:solidFill>
            <a:srgbClr val="3E7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2468880" cy="4114800"/>
          </a:xfrm>
          <a:prstGeom prst="rect">
            <a:avLst/>
          </a:prstGeom>
          <a:noFill/>
        </p:spPr>
        <p:txBody>
          <a:bodyPr wrap="square">
            <a:spAutoFit/>
          </a:bodyPr>
          <a:lstStyle/>
          <a:p>
            <a:pPr>
              <a:spcBef>
                <a:spcPts val="800"/>
              </a:spcBef>
              <a:spcAft>
                <a:spcPts val="1200"/>
              </a:spcAft>
              <a:defRPr b="1" sz="1400">
                <a:solidFill>
                  <a:srgbClr val="1B365D"/>
                </a:solidFill>
              </a:defRPr>
            </a:pPr>
            <a:r>
              <a:t>Bảo mật đa lớp</a:t>
            </a:r>
          </a:p>
          <a:p>
            <a:pPr>
              <a:spcAft>
                <a:spcPts val="800"/>
              </a:spcAft>
              <a:defRPr sz="1200">
                <a:solidFill>
                  <a:srgbClr val="333333"/>
                </a:solidFill>
              </a:defRPr>
            </a:pPr>
            <a:r>
              <a:t>Kiểm soát an toàn chặt chẽ bằng JWT, phân quyền RBAC sâu và Rate Limiting Bucket4j.</a:t>
            </a:r>
          </a:p>
        </p:txBody>
      </p:sp>
      <p:sp>
        <p:nvSpPr>
          <p:cNvPr id="8" name="Rectangle 7"/>
          <p:cNvSpPr/>
          <p:nvPr/>
        </p:nvSpPr>
        <p:spPr>
          <a:xfrm>
            <a:off x="6309360" y="1371600"/>
            <a:ext cx="2468880" cy="36576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1645920"/>
            <a:ext cx="2468880" cy="4114800"/>
          </a:xfrm>
          <a:prstGeom prst="rect">
            <a:avLst/>
          </a:prstGeom>
          <a:noFill/>
        </p:spPr>
        <p:txBody>
          <a:bodyPr wrap="square">
            <a:spAutoFit/>
          </a:bodyPr>
          <a:lstStyle/>
          <a:p>
            <a:pPr>
              <a:spcBef>
                <a:spcPts val="800"/>
              </a:spcBef>
              <a:spcAft>
                <a:spcPts val="1200"/>
              </a:spcAft>
              <a:defRPr b="1" sz="1400">
                <a:solidFill>
                  <a:srgbClr val="333333"/>
                </a:solidFill>
              </a:defRPr>
            </a:pPr>
            <a:r>
              <a:t>Triển khai Cloud</a:t>
            </a:r>
          </a:p>
          <a:p>
            <a:pPr>
              <a:spcAft>
                <a:spcPts val="800"/>
              </a:spcAft>
              <a:defRPr sz="1200">
                <a:solidFill>
                  <a:srgbClr val="333333"/>
                </a:solidFill>
              </a:defRPr>
            </a:pPr>
            <a:r>
              <a:t>Hệ thống vận hành an toàn trên Docker AWS, S3 lưu trữ riêng biệt, tự động hóa với CI/CD.</a:t>
            </a:r>
          </a:p>
        </p:txBody>
      </p:sp>
      <p:sp>
        <p:nvSpPr>
          <p:cNvPr id="10" name="Rectangle 9"/>
          <p:cNvSpPr/>
          <p:nvPr/>
        </p:nvSpPr>
        <p:spPr>
          <a:xfrm>
            <a:off x="9144000" y="1371600"/>
            <a:ext cx="2468880" cy="3657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15. CÁC HẠN CHẾ HIỆN TẠI CỦA HỆ THỐNG</a:t>
            </a:r>
          </a:p>
        </p:txBody>
      </p:sp>
      <p:sp>
        <p:nvSpPr>
          <p:cNvPr id="3" name="TextBox 2"/>
          <p:cNvSpPr txBox="1"/>
          <p:nvPr/>
        </p:nvSpPr>
        <p:spPr>
          <a:xfrm>
            <a:off x="640080" y="1371600"/>
            <a:ext cx="10911535" cy="4572000"/>
          </a:xfrm>
          <a:prstGeom prst="rect">
            <a:avLst/>
          </a:prstGeom>
          <a:noFill/>
        </p:spPr>
        <p:txBody>
          <a:bodyPr wrap="square">
            <a:spAutoFit/>
          </a:bodyPr>
          <a:lstStyle/>
          <a:p>
            <a:pPr>
              <a:spcAft>
                <a:spcPts val="1200"/>
              </a:spcAft>
              <a:defRPr b="1" sz="1600">
                <a:solidFill>
                  <a:srgbClr val="1B365D"/>
                </a:solidFill>
              </a:defRPr>
            </a:pPr>
            <a:r>
              <a:t>Một số hạn chế cần khắc phục:</a:t>
            </a:r>
          </a:p>
          <a:p>
            <a:pPr>
              <a:spcAft>
                <a:spcPts val="1400"/>
              </a:spcAft>
            </a:pPr>
            <a:r>
              <a:rPr sz="1350">
                <a:solidFill>
                  <a:srgbClr val="333333"/>
                </a:solidFill>
                <a:latin typeface="Arial"/>
              </a:rPr>
              <a:t>• Hệ thống chatbot AI gửi toàn bộ danh sách sản phẩm text dạng thô nên khi số lượng sản phẩm lớn có thể vượt quá số lượng token giới hạn của prompt.</a:t>
            </a:r>
          </a:p>
          <a:p>
            <a:pPr>
              <a:spcAft>
                <a:spcPts val="1400"/>
              </a:spcAft>
            </a:pPr>
            <a:r>
              <a:rPr sz="1350">
                <a:solidFill>
                  <a:srgbClr val="333333"/>
                </a:solidFill>
                <a:latin typeface="Arial"/>
              </a:rPr>
              <a:t>• Mô hình 3D/AR vẫn phải tải thủ công bởi admin, chưa có công cụ tự động chuyển đổi từ ảnh 2D thông thường sang mô hình 3D.</a:t>
            </a:r>
          </a:p>
          <a:p>
            <a:pPr>
              <a:spcAft>
                <a:spcPts val="1400"/>
              </a:spcAft>
            </a:pPr>
            <a:r>
              <a:rPr sz="1350">
                <a:solidFill>
                  <a:srgbClr val="333333"/>
                </a:solidFill>
                <a:latin typeface="Arial"/>
              </a:rPr>
              <a:t>• Triển khai trên AWS EC2 hiện tại sử dụng gói Free Tier (cấu hình t2.micro) nên RAM khá yếu (1GB RAM) dẫn đến việc không thể build trực tiếp trên server mà phải build local.</a:t>
            </a:r>
          </a:p>
          <a:p>
            <a:pPr>
              <a:spcAft>
                <a:spcPts val="1400"/>
              </a:spcAft>
            </a:pPr>
            <a:r>
              <a:rPr sz="1350">
                <a:solidFill>
                  <a:srgbClr val="333333"/>
                </a:solidFill>
                <a:latin typeface="Arial"/>
              </a:rPr>
              <a:t>• Hệ thống chưa hỗ trợ đa ngôn ngữ và chưa tối ưu SEO hoàn chỉnh cho tất cả các trang sản phẩm.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400" b="1">
                <a:solidFill>
                  <a:srgbClr val="1B365D"/>
                </a:solidFill>
                <a:latin typeface="Arial"/>
              </a:defRPr>
            </a:pPr>
            <a:r>
              <a:t>16. ĐỊNH HƯỚNG PHÁT TRIỂN TIẾP THEO</a:t>
            </a:r>
          </a:p>
        </p:txBody>
      </p:sp>
      <p:sp>
        <p:nvSpPr>
          <p:cNvPr id="3" name="TextBox 2"/>
          <p:cNvSpPr txBox="1"/>
          <p:nvPr/>
        </p:nvSpPr>
        <p:spPr>
          <a:xfrm>
            <a:off x="640080" y="1371600"/>
            <a:ext cx="5120640" cy="4572000"/>
          </a:xfrm>
          <a:prstGeom prst="rect">
            <a:avLst/>
          </a:prstGeom>
          <a:noFill/>
        </p:spPr>
        <p:txBody>
          <a:bodyPr wrap="square">
            <a:spAutoFit/>
          </a:bodyPr>
          <a:lstStyle/>
          <a:p>
            <a:pPr>
              <a:spcAft>
                <a:spcPts val="1200"/>
              </a:spcAft>
              <a:defRPr b="1" sz="1600">
                <a:solidFill>
                  <a:srgbClr val="2B6C8C"/>
                </a:solidFill>
              </a:defRPr>
            </a:pPr>
            <a:r>
              <a:t>Tối ưu hóa dữ liệu &amp; AI:</a:t>
            </a:r>
          </a:p>
          <a:p>
            <a:pPr>
              <a:spcAft>
                <a:spcPts val="800"/>
              </a:spcAft>
            </a:pPr>
            <a:r>
              <a:rPr sz="1300">
                <a:solidFill>
                  <a:srgbClr val="333333"/>
                </a:solidFill>
                <a:latin typeface="Arial"/>
              </a:rPr>
              <a:t>• Tích hợp Vector Database (như PGVector hoặc Pinecone) để làm RAG (Retrieval-Augmented Generation) thực tế cho chatbot AI, truy tìm thông tin sản phẩm liên quan chính xác hơn.</a:t>
            </a:r>
          </a:p>
          <a:p>
            <a:pPr>
              <a:spcAft>
                <a:spcPts val="800"/>
              </a:spcAft>
            </a:pPr>
            <a:r>
              <a:rPr sz="1300">
                <a:solidFill>
                  <a:srgbClr val="333333"/>
                </a:solidFill>
                <a:latin typeface="Arial"/>
              </a:rPr>
              <a:t>• Tự động hóa chuyển ảnh sản phẩm 2D thành mô hình 3D bằng công nghệ AI sinh mô hình (Generative 3D).</a:t>
            </a:r>
          </a:p>
        </p:txBody>
      </p:sp>
      <p:sp>
        <p:nvSpPr>
          <p:cNvPr id="4" name="TextBox 3"/>
          <p:cNvSpPr txBox="1"/>
          <p:nvPr/>
        </p:nvSpPr>
        <p:spPr>
          <a:xfrm>
            <a:off x="6309360" y="1371600"/>
            <a:ext cx="5120640" cy="4572000"/>
          </a:xfrm>
          <a:prstGeom prst="rect">
            <a:avLst/>
          </a:prstGeom>
          <a:noFill/>
        </p:spPr>
        <p:txBody>
          <a:bodyPr wrap="square">
            <a:spAutoFit/>
          </a:bodyPr>
          <a:lstStyle/>
          <a:p>
            <a:pPr>
              <a:spcAft>
                <a:spcPts val="1200"/>
              </a:spcAft>
              <a:defRPr b="1" sz="1600">
                <a:solidFill>
                  <a:srgbClr val="3E7D60"/>
                </a:solidFill>
              </a:defRPr>
            </a:pPr>
            <a:r>
              <a:t>Tối ưu hóa hạ tầng &amp; Vận hành:</a:t>
            </a:r>
          </a:p>
          <a:p>
            <a:pPr>
              <a:spcAft>
                <a:spcPts val="800"/>
              </a:spcAft>
            </a:pPr>
            <a:r>
              <a:rPr sz="1300">
                <a:solidFill>
                  <a:srgbClr val="333333"/>
                </a:solidFill>
                <a:latin typeface="Arial"/>
              </a:rPr>
              <a:t>• Redis Cache: Cấu hình caching sản phẩm hot tăng tốc độ phản hồi API.</a:t>
            </a:r>
          </a:p>
          <a:p>
            <a:pPr>
              <a:spcAft>
                <a:spcPts val="800"/>
              </a:spcAft>
            </a:pPr>
            <a:r>
              <a:rPr sz="1300">
                <a:solidFill>
                  <a:srgbClr val="333333"/>
                </a:solidFill>
                <a:latin typeface="Arial"/>
              </a:rPr>
              <a:t>• Elasticsearch: Tìm kiếm nâng cao toàn văn (Full-text search).</a:t>
            </a:r>
          </a:p>
          <a:p>
            <a:pPr>
              <a:spcAft>
                <a:spcPts val="800"/>
              </a:spcAft>
            </a:pPr>
            <a:r>
              <a:rPr sz="1300">
                <a:solidFill>
                  <a:srgbClr val="333333"/>
                </a:solidFill>
                <a:latin typeface="Arial"/>
              </a:rPr>
              <a:t>• Thiết lập Load Balancer và Auto Scaling trên AWS giúp hệ thống tự động co giãn cấu hình phần cứng khi số lượng người dùng truy cập đột biến.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65D"/>
        </a:solidFill>
        <a:effectLst/>
      </p:bgPr>
    </p:bg>
    <p:spTree>
      <p:nvGrpSpPr>
        <p:cNvPr id="1" name=""/>
        <p:cNvGrpSpPr/>
        <p:nvPr/>
      </p:nvGrpSpPr>
      <p:grpSpPr/>
      <p:sp>
        <p:nvSpPr>
          <p:cNvPr id="2" name="TextBox 1"/>
          <p:cNvSpPr txBox="1"/>
          <p:nvPr/>
        </p:nvSpPr>
        <p:spPr>
          <a:xfrm>
            <a:off x="914400" y="2011680"/>
            <a:ext cx="10362895" cy="2743200"/>
          </a:xfrm>
          <a:prstGeom prst="rect">
            <a:avLst/>
          </a:prstGeom>
          <a:noFill/>
        </p:spPr>
        <p:txBody>
          <a:bodyPr wrap="square">
            <a:spAutoFit/>
          </a:bodyPr>
          <a:lstStyle/>
          <a:p>
            <a:pPr algn="ctr">
              <a:defRPr sz="3600" b="1">
                <a:solidFill>
                  <a:srgbClr val="FFFFFF"/>
                </a:solidFill>
                <a:latin typeface="Arial"/>
              </a:defRPr>
            </a:pPr>
            <a:r>
              <a:t>XIN CHÂN THÀNH CẢM ƠN HỘI ĐỒNG!</a:t>
            </a:r>
          </a:p>
          <a:p>
            <a:pPr algn="ctr">
              <a:spcBef>
                <a:spcPts val="2000"/>
              </a:spcBef>
              <a:defRPr sz="1600">
                <a:solidFill>
                  <a:srgbClr val="F0F4F8"/>
                </a:solidFill>
                <a:latin typeface="Arial"/>
              </a:defRPr>
            </a:pPr>
            <a:r>
              <a:t>Em xin phép được lắng nghe các câu hỏi chất vấn từ phía Thầy / Cô trong Hội đồng bảo vệ đồ 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