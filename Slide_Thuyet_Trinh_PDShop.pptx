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HỆ THỐNG THƯƠNG MẠI ĐIỆN TỬ PD-SHOP</a:t>
            </a:r>
          </a:p>
          <a:p>
            <a:pPr algn="ctr">
              <a:spcBef>
                <a:spcPts val="1000"/>
              </a:spcBef>
              <a:defRPr sz="1800">
                <a:solidFill>
                  <a:srgbClr val="2B6C8C"/>
                </a:solidFill>
                <a:latin typeface="Calibri"/>
              </a:defRPr>
            </a:pPr>
            <a:r>
              <a:t>Báo Cáo Đồ Án Tốt Nghiệp / Dự Án Phát Triển Phần Mềm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Sinh viên thực hiện: </a:t>
            </a:r>
            <a:r>
              <a:rPr sz="1300">
                <a:solidFill>
                  <a:srgbClr val="F0F4F8"/>
                </a:solidFill>
                <a:latin typeface="Calibri"/>
              </a:rPr>
              <a:t>Dương Duy Phúc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Công nghệ chính: </a:t>
            </a:r>
            <a:r>
              <a:rPr sz="1300">
                <a:solidFill>
                  <a:srgbClr val="F0F4F8"/>
                </a:solidFill>
                <a:latin typeface="Calibri"/>
              </a:rPr>
              <a:t>Spring Boot (Java 17) • React.js • MySQL • Docker • AWS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Thời gian thực hiện: </a:t>
            </a:r>
            <a:r>
              <a:rPr sz="1300">
                <a:solidFill>
                  <a:srgbClr val="F0F4F8"/>
                </a:solidFill>
                <a:latin typeface="Calibri"/>
              </a:rPr>
              <a:t>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1. ĐẶT VẤN ĐỀ &amp; MỤC TIÊU DỰ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Đặt vấn đề &amp; Thách thức thực tế: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Nhu cầu mua sắm trực tuyến tăng cao, khách hàng yêu cầu giao diện mượt mà và trực quan.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Nghiệp vụ E-Commerce phức tạp: Kiểm soát tồn kho, thanh toán an toàn, cập nhật đơn hàng.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Yêu cầu bảo mật cao về tài khoản, mật khẩu, và bảo vệ dữ liệu nội bộ.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Thách thức triển khai thực tế trên môi trường cloud với chi phí tài nguyên hạn chế.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Mục tiêu đạt được của đồ án: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✔ Xây dựng hoàn chỉnh quy trình mua sắm E-Commerce (Duyệt -&gt; Đặt hàng -&gt; Thanh toán -&gt; Theo dõi).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✔ Áp dụng kiến trúc chuẩn công nghiệp: REST API Stateless với JWT, kiến trúc phân tầng (Layered).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✔ Tích hợp đột phá: Xem sản phẩm 3D/AR, Chat AI Gemini, thanh toán trực tuyến qua cổng VNPay.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✔ Đóng gói tối ưu bằng Docker và triển khai thực tế lên cloud AWS EC2 thành công.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2. KIẾN TRÚC TỔNG THỂ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Kiến trúc 3 Lớp (Presentation - Logic - Data):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Presentation (Frontend): React.js SPA kết xuất nhanh, tương tác mượt, giao diện Responsive.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Business Logic (Backend): Spring Boot (Java 17) xử lý nghiệp vụ, phân tầng Controller -&gt; Service -&gt; Repository.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Data Access (Database): MySQL 8.0 lưu trữ chuẩn hóa cơ sở dữ liệu.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Nginx Reverse Proxy: Đứng trước hệ thống, phân phối tệp tĩnh React và chuyển tiếp thông minh request /api sang Spring Boot, giải quyết triệt để lỗi CORS.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2560320"/>
            <a:ext cx="1645920" cy="914400"/>
          </a:xfrm>
          <a:prstGeom prst="roundRect">
            <a:avLst/>
          </a:prstGeom>
          <a:solidFill>
            <a:srgbClr val="1B3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Nginx</a:t>
            </a:r>
          </a:p>
          <a:p>
            <a:r>
              <a:t>(Reverse Proxy :80)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645920"/>
            <a:ext cx="2743200" cy="1005840"/>
          </a:xfrm>
          <a:prstGeom prst="rect">
            <a:avLst/>
          </a:prstGeom>
          <a:solidFill>
            <a:srgbClr val="2B6C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React Frontend SPA</a:t>
            </a:r>
          </a:p>
          <a:p>
            <a:r>
              <a:t>(Client-side UI / HTML / CSS / JS)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3474720"/>
            <a:ext cx="2743200" cy="1005840"/>
          </a:xfrm>
          <a:prstGeom prst="rect">
            <a:avLst/>
          </a:prstGeom>
          <a:solidFill>
            <a:srgbClr val="3E7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Spring Boot REST API</a:t>
            </a:r>
          </a:p>
          <a:p>
            <a:r>
              <a:t>(Backend Services :8080)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5120640"/>
            <a:ext cx="2743200" cy="1005840"/>
          </a:xfrm>
          <a:prstGeom prst="roundRect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MySQL Database</a:t>
            </a:r>
          </a:p>
          <a:p>
            <a:r>
              <a:t>(Data Storage :3306)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3. CÔNG NGHỆ CHUYÊN SÂU TRONG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1B365D"/>
                </a:solidFill>
              </a:defRPr>
            </a:pPr>
            <a:r>
              <a:t>Backend Stack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Spring Boot 3.3.0 (Java 17)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Spring Security 6.x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Spring Data JPA &amp; Hibernate 6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Flyway (Database migration)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MapStruct (Object mapping)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Google Gemini API (AI Chat)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Bucket4j (Rate Limiting)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Frontend Stack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React 18 &amp; Vite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React Router v6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Tailwind CSS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model-viewer (3D &amp; AR)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Three.js (WebGL rendering)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Axios (Interceptors)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React Hook Form &amp; Yup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DevOps &amp; Infrastructure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Docker (Containerization)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Docker Compose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Nginx (Reverse Proxy &amp; Serve)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AWS EC2 (Ubuntu Linux Server)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AWS S3 (Product Media Storage)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Maven &amp; npm packaging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✔ Flyway Migration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4. THIẾT KẾ CƠ SỞ DỮ LIỆU CHUẨN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Cơ cấu Schema (Bao gồm ~20 bảng):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Xác thực &amp; Phân quyền (RBAC): users, roles, permissions, user_roles, role_permissions.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Sản phẩm &amp; Biến thể: categories, brands, products, product_images, product_variants, product_ar_assets.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Bán hàng: cart_items, orders, order_items, coupons.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Tính năng mở rộng: reviews, notifications, chat_sessions, chat_messages, audit_logs.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Database Migration với Flyway: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Kiểm soát lịch sử thay đổi schema bằng file SQL (V1__rbac, V2__test_users, V3__seed_products, V4__reviews...).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Tránh chạy lệnh SQL thủ công dễ gây sai lệch dữ liệu giữa các môi trường.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Khởi chạy tự động đối chiếu và thực thi SQL migration khi khởi động Spring Boot.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Đảm bảo database đồng bộ 100% giữa local và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5. TRẠI NGHIỆM ĐỘT PHÁ CỦA KHÁCH HÀNG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Tài khoản &amp; Mua sắm truyền thống: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Đăng ký/Đăng nhập xác thực qua Email OTP an toàn.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Đăng nhập nhanh 1-click qua tài khoản Google OAuth2.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Duyệt sản phẩm chuyên nghiệp phân theo thương hiệu, danh mục.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Tìm kiếm thông tin nhanh, bộ lọc nâng cao theo giá và thuộc tính.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Đặt hàng tiện lợi, quản lý giỏ hàng, áp dụng coupon giảm giá.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Công nghệ nâng cao: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★ Xem AR 3D thực tế tăng cường trên WebXR: Chiêm ngưỡng mô hình 3D thực tế của sản phẩm thông qua camera điện thoại.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★ Chat AI Gemini: Tích hợp AI hỗ trợ tư vấn thông tin sản phẩm.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★ Thanh toán VNPay &amp; COD: Đa dạng cổng thanh toán, bảo mật.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★ Real-time Updates: Đồng bộ trạng thái giao hàng thông qua SSE.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★ Viết đánh giá xếp hạng sản phẩm kèm theo hình ảnh.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6. HỆ THỐNG QUẢN TRỊ (ADMIN 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Quản lý kinh doanh hàng hóa: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Quản lý vòng đời sản phẩm: CRUD sản phẩm và các biến thể sản phẩm.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Import sản phẩm hàng loạt bằng tệp Excel (tối ưu JDBC Batch Insert, xử lý tránh xung đột trùng SKU).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Quy trình xử lý đơn hàng: Tiếp nhận, xác nhận, chuyển giao.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Quản lý chiến dịch mã giảm giá (Coupon): Số lần dùng, hạn dùng.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Quản lý đánh giá khách hàng &amp; danh sách tài khoản thành viên.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Quản lý nâng cao: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Quản trị tài sản 3D (AR Assets): Quản lý liên kết tệp GLB và USDZ.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Dashboard biểu đồ doanh thu: Báo cáo doanh số sinh động với Recharts.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Phân quyền phân vai: STAFF (quản lý đơn hàng) &amp; ADMIN (toàn quyền).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Audit Log hệ thống: Ghi nhận nhật ký lịch sử các thao tác của admin chống chối bỏ.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7. GIẢI PHÁP BẢO MẬT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Xác thực stateless &amp; Phân quyền RBAC: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JWT Authentication: Xác thực stateless, giải mã token nhanh chóng bằng Secret Key tại Filter không cần query Database.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Role-Based Access Control (RBAC): Tách biệt ADMIN, STAFF, USER.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Bảo mật 2 lớp: Cấu hình phân luồng API tại FilterChain và phân quyền chi tiết tại Controller bằng @PreAuthorize(hasAuthority(...)).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Chống tấn công &amp; Đảm bảo toàn vẹn dữ liệu: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Rate Limiting Filter: Dùng Bucket4j chống spam đăng nhập/đăng ký (5 request / phút / IP). Trả về HTTP 429.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BCrypt Password Encryption: Mã hóa mật khẩu an toàn với cost factor 10.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Xác thực thanh toán VNPay: Chữ ký điện tử HMAC-SHA512 đối chiếu IPN chặn người dùng chỉnh sửa giá trị giao dịch.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8. KỸ THUẬT BACKEND NÂNG CAO ĐÃ ÁP DỤNG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Bất đồng bộ &amp; Phân tách Transaction: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Gửi Email OTP bất đồng bộ (@Async): Tối ưu hóa UI/UX, đăng ký thành công ngay lập tức (~100ms), kết nối SMTP chạy ngầm.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Audit Log decoupled hoàn toàn: Sử dụng @Async kết hợp @Transactional(propagation = Propagation.REQUIRES_NEW) giúp nhật ký ghi nhận hành vi Admin lưu thành công ngay cả khi giao dịch nghiệp vụ chính lỗi rollback.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Real-time &amp; Kiểm soát concurrency: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Thông báo bằng Server-Sent Events (SSE): Kết nối 1 chiều từ Server về Client giúp nhận thông báo thời gian thực, tiết kiệm kết nối.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Khóa lạc quan Optimistic Locking (@Version): Tự động so sánh số phiên bản cập nhật hàng tồn kho trong Hibernate để tránh xung đột Lost Update.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9. CONTAINER HÓA VÀ DEPLOYMENT HẠ TẦNG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Cấu trúc Container (Docker Compose):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pdshop_nginx: Nginx Reverse Proxy tiếp nhận cổng 80/443, serve React bundle tĩnh và proxy ngược API.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pdshop_app: Backend API Spring Boot 3.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pdshop_mysql: Cơ sở dữ liệu MySQL 8.0.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Docker Volumes: Đồng bộ thư mục db_data lưu dữ liệu lâu dài và app_uploads lưu ảnh tải lên.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Triển khai AWS EC2 thực tế: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Hạ tầng đám mây: Thuê máy ảo Ubuntu trên AWS EC2.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Tên miền: Dùng DNS nip.io trỏ về IP tĩnh public của EC2.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Bảo mật mạng: Cấu hình Security Group chỉ mở port 80, 443 và 22 (SSH).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Deploy thực tế: Hoạt động ổn định tại URL http://47.129.213.238.nip.io.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10. KHÓ KHĂN VÀ GIẢI PHÁP THỰC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Lỗi kỹ thuật Jackson &amp; Docker Network: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Jackson Lazy Proxy Serialization: Lỗi nạp dữ liệu trì hoãn Hibernate gây lỗi 500 khi render JSON. Khắc phục bằng cách thêm @JsonIgnoreProperties trên các trường Proxy.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Docker Hostname Resolve: Nginx không nhận diện hostname 'app' khi restart độc lập trên EC2. Khắc phục bằng cách đổi proxy_pass sang container name 'pdshop_app' để Docker bridge network định tuyến chính xác.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Giới hạn bộ nhớ máy ảo AWS EC2: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Vấn đề: Server EC2 t2.micro cấu hình RAM yếu và dung lượng đĩa đầy &gt;99% khiến việc kéo code về compile Maven trực tiếp trên server gây lỗi tràn bộ nhớ / treo đơ máy.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Giải pháp tối ưu: Thiết lập quy trình build local. Đóng gói file JAR (~127MB) và frontend static folder tại máy local, tải lên EC2 qua giao thức SCP, sau đó build Docker image từ JAR có sẵn.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Kết quả: Tiết kiệm hơn 1.5GB dung lượng đĩa cho server, giảm thời gian cập nhật hệ thống xuống còn 30 giây.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11. KẾT QUẢ ĐẠT ĐƯỢC VÀ HƯỚNG PHÁT TRIỂN TIẾP THEO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2B6C8C"/>
                </a:solidFill>
              </a:defRPr>
            </a:pPr>
            <a:r>
              <a:t>Kết quả đạt được (Thông số kỹ thuật):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Quy mô mã nguồn Backend: Hơn 165 tập tin lớp Java cấu trúc chuẩn.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Quy mô Frontend: Khoảng 80+ components React UI hoàn thiện.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Cơ cấu cơ sở dữ liệu: ~20 bảng thực thể thiết kế chuẩn hóa.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API phục vụ: 60+ REST API endpoints khác nhau.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✔ Triển khai: Hệ thống vận hành thành công thực tế trên Cloud AWS.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E7D60"/>
                </a:solidFill>
              </a:defRPr>
            </a:pPr>
            <a:r>
              <a:t>Định hướng phát triển tiếp theo: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Xây dựng đường ống CI/CD tự động bằng GitHub Actions.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Tích hợp Redis Cache để lưu giữ phiên làm việc và cache sản phẩm hot, tăng tốc API lên gấp nhiều lần.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Sử dụng Elasticsearch thay thế SQL LIKE để tối ưu hóa tìm kiếm.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Phát triển ứng dụng Mobile App bằng React Native.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Tích hợp chứng chỉ SSL/HTTPS Let's Encrypt bảo mật dữ liệu đường truyền.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XIN CHÂN THÀNH CẢM ƠN HỘI ĐỒNG!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0F4F8"/>
                </a:solidFill>
                <a:latin typeface="Calibri"/>
              </a:defRPr>
            </a:pPr>
            <a:r>
              <a:t>Em xin phép được lắng nghe các câu hỏi và nhận xét từ thầy/cô để hoàn thiện dự 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